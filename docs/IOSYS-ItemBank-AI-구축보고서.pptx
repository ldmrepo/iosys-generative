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과목별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2E4053"/>
              </a:solidFill>
              <a:effectLst/>
            </c:spPr>
          </c:dPt>
          <c:dPt>
            <c:idx val="2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bubble3D val="0"/>
            <c:spPr>
              <a:solidFill>
                <a:srgbClr val="F39C12"/>
              </a:solidFill>
              <a:effectLst/>
            </c:spPr>
          </c:dPt>
          <c:dPt>
            <c:idx val="5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수학</c:v>
                </c:pt>
                <c:pt idx="1">
                  <c:v>과학</c:v>
                </c:pt>
                <c:pt idx="2">
                  <c:v>영어</c:v>
                </c:pt>
                <c:pt idx="3">
                  <c:v>역사</c:v>
                </c:pt>
                <c:pt idx="4">
                  <c:v>사회</c:v>
                </c:pt>
                <c:pt idx="5">
                  <c:v>국어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45.7</c:v>
                </c:pt>
                <c:pt idx="1">
                  <c:v>19.9</c:v>
                </c:pt>
                <c:pt idx="2">
                  <c:v>9.7</c:v>
                </c:pt>
                <c:pt idx="3">
                  <c:v>8.3</c:v>
                </c:pt>
                <c:pt idx="4">
                  <c:v>8.3</c:v>
                </c:pt>
                <c:pt idx="5">
                  <c:v>6.6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문항 유형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선택형</c:v>
                  </c:pt>
                  <c:pt idx="1">
                    <c:v>완결형</c:v>
                  </c:pt>
                  <c:pt idx="2">
                    <c:v>단답형</c:v>
                  </c:pt>
                  <c:pt idx="3">
                    <c:v>서술형</c:v>
                  </c:pt>
                  <c:pt idx="4">
                    <c:v>기타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17.4</c:v>
                </c:pt>
                <c:pt idx="2">
                  <c:v>15</c:v>
                </c:pt>
                <c:pt idx="3">
                  <c:v>3</c:v>
                </c:pt>
                <c:pt idx="4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02746" y="1008162"/>
            <a:ext cx="493835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IOSYS ItemBank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169235" y="1881187"/>
            <a:ext cx="48055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차세대 문항은행 시스템 구축 보고서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67435" y="2887563"/>
            <a:ext cx="1608981" cy="3048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70586" y="2963763"/>
            <a:ext cx="1226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Complete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29641" y="3700314"/>
            <a:ext cx="8847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1월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920901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09813"/>
            <a:ext cx="2590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4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2952899"/>
            <a:ext cx="507950" cy="507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802" y="400794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3908" y="45154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12853" y="413445"/>
            <a:ext cx="917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5802" y="984796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3908" y="103554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12853" y="997446"/>
            <a:ext cx="106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5802" y="1568797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43908" y="161954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12853" y="1581448"/>
            <a:ext cx="205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전처리 (Preprocessing)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5802" y="2152799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43908" y="220354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12853" y="2165449"/>
            <a:ext cx="125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 (POC)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55802" y="2736800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43908" y="278755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12853" y="2749451"/>
            <a:ext cx="1954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서비스 (itembank-api)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5802" y="3320802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43908" y="33715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12853" y="3333452"/>
            <a:ext cx="1843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(itembank-web)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5802" y="3904804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43908" y="395555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12853" y="3917454"/>
            <a:ext cx="114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지표 및 결과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55802" y="4488805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43908" y="453955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12853" y="4501455"/>
            <a:ext cx="626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71302"/>
            <a:ext cx="3873550" cy="6728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371302"/>
            <a:ext cx="0" cy="6728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472803"/>
            <a:ext cx="35915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문항 검색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975" y="1761679"/>
            <a:ext cx="35915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기반 의미적 유사도 검색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145655"/>
            <a:ext cx="3873550" cy="6728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145655"/>
            <a:ext cx="0" cy="6728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2247156"/>
            <a:ext cx="35915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문항 추천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7975" y="2536031"/>
            <a:ext cx="35915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임베딩 기반 유사 문항 자동 추천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920008"/>
            <a:ext cx="3873550" cy="6728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920008"/>
            <a:ext cx="0" cy="6728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975" y="3021509"/>
            <a:ext cx="35915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문항 생성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7975" y="3310384"/>
            <a:ext cx="35915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기반 유사 문항 자동 생성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694361"/>
            <a:ext cx="3873550" cy="6728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694361"/>
            <a:ext cx="0" cy="6728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975" y="3795861"/>
            <a:ext cx="35915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검색 플랫폼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7975" y="4084737"/>
            <a:ext cx="35915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기반 통합 검색 인터페이스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2500" y="1371302"/>
            <a:ext cx="3873550" cy="857101"/>
          </a:xfrm>
          <a:prstGeom prst="roundRect">
            <a:avLst>
              <a:gd name="adj" fmla="val 592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89450" y="1498253"/>
            <a:ext cx="36920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176,443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89450" y="1901428"/>
            <a:ext cx="36920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문항 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2500" y="2329904"/>
            <a:ext cx="3873550" cy="857101"/>
          </a:xfrm>
          <a:prstGeom prst="roundRect">
            <a:avLst>
              <a:gd name="adj" fmla="val 592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9450" y="2456855"/>
            <a:ext cx="36920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30.5ms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89450" y="2860030"/>
            <a:ext cx="36920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P95 지연시간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2500" y="3288506"/>
            <a:ext cx="3873550" cy="857101"/>
          </a:xfrm>
          <a:prstGeom prst="roundRect">
            <a:avLst>
              <a:gd name="adj" fmla="val 592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9450" y="3415457"/>
            <a:ext cx="36920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89450" y="3818632"/>
            <a:ext cx="36920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(검색 정확도)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5050" y="1422053"/>
            <a:ext cx="7873752" cy="606177"/>
          </a:xfrm>
          <a:prstGeom prst="roundRect">
            <a:avLst>
              <a:gd name="adj" fmla="val 838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5291" y="1523554"/>
            <a:ext cx="75132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(itembank-web)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291" y="1783854"/>
            <a:ext cx="7513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/ React 19 / TypeScript / TanStack Query / Zustand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59436" y="2078980"/>
            <a:ext cx="10454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050" y="2396430"/>
            <a:ext cx="7873752" cy="1002804"/>
          </a:xfrm>
          <a:prstGeom prst="roundRect">
            <a:avLst>
              <a:gd name="adj" fmla="val 506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5291" y="2497931"/>
            <a:ext cx="75132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(itembank-api)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5291" y="2758232"/>
            <a:ext cx="7513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Python 3.12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8242" y="2951857"/>
            <a:ext cx="1628031" cy="345877"/>
          </a:xfrm>
          <a:prstGeom prst="roundRect">
            <a:avLst>
              <a:gd name="adj" fmla="val 11015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93217" y="3053358"/>
            <a:ext cx="1298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 Embedding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08673" y="2951857"/>
            <a:ext cx="1336179" cy="345877"/>
          </a:xfrm>
          <a:prstGeom prst="roundRect">
            <a:avLst>
              <a:gd name="adj" fmla="val 11015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76566" y="3053358"/>
            <a:ext cx="1000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 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7252" y="2951857"/>
            <a:ext cx="1618357" cy="345877"/>
          </a:xfrm>
          <a:prstGeom prst="roundRect">
            <a:avLst>
              <a:gd name="adj" fmla="val 11015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62323" y="3053358"/>
            <a:ext cx="12882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 (GPT-4o)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73103" y="3449985"/>
            <a:ext cx="142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050" y="3767435"/>
            <a:ext cx="7873752" cy="606177"/>
          </a:xfrm>
          <a:prstGeom prst="roundRect">
            <a:avLst>
              <a:gd name="adj" fmla="val 838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5291" y="3868936"/>
            <a:ext cx="75132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5291" y="4129236"/>
            <a:ext cx="7513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Index / Cosine Similarity / 176,443 Embeddings (2048-dim)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전처리 (Preprocessing)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71302"/>
            <a:ext cx="2247900" cy="809476"/>
          </a:xfrm>
          <a:prstGeom prst="roundRect">
            <a:avLst>
              <a:gd name="adj" fmla="val 627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4961" y="1498253"/>
            <a:ext cx="20338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184,761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4961" y="1872853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IML 파일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08250" y="1371302"/>
            <a:ext cx="2247900" cy="80947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15261" y="1498253"/>
            <a:ext cx="20338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176,443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5261" y="1872853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 성공 (95.5%)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282279"/>
            <a:ext cx="2247900" cy="80947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4961" y="2409230"/>
            <a:ext cx="20338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131,460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4961" y="2783830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통과 (74.5%)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8250" y="2282279"/>
            <a:ext cx="2247900" cy="80947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15261" y="2409230"/>
            <a:ext cx="20338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15261" y="2783830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용량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193256"/>
            <a:ext cx="2247900" cy="885676"/>
          </a:xfrm>
          <a:prstGeom prst="roundRect">
            <a:avLst>
              <a:gd name="adj" fmla="val 57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4961" y="3320207"/>
            <a:ext cx="20338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45,368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961" y="3694807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포함 문항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08250" y="3193256"/>
            <a:ext cx="2247900" cy="885676"/>
          </a:xfrm>
          <a:prstGeom prst="roundRect">
            <a:avLst>
              <a:gd name="adj" fmla="val 57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15261" y="3320207"/>
            <a:ext cx="20338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20년+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5261" y="3771007"/>
            <a:ext cx="2033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범위 (2005-2026)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7150" y="1371302"/>
            <a:ext cx="31608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파이프라인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7150" y="1729978"/>
            <a:ext cx="3098899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56200" y="1729978"/>
            <a:ext cx="0" cy="55245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2951" y="1806178"/>
            <a:ext cx="27595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스키마 추출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52951" y="2044303"/>
            <a:ext cx="27595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34개 XML 태그 추출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7150" y="2358628"/>
            <a:ext cx="3098899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556200" y="2358628"/>
            <a:ext cx="0" cy="55245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52951" y="2434828"/>
            <a:ext cx="27595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IML 파싱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52951" y="2672953"/>
            <a:ext cx="27595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감지 및 메타데이터 추출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7150" y="2987278"/>
            <a:ext cx="3098899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556200" y="2987278"/>
            <a:ext cx="0" cy="55245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2951" y="3063478"/>
            <a:ext cx="27595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정규화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52951" y="3301603"/>
            <a:ext cx="27595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LaTeX/이미지/텍스트 처리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7150" y="3615928"/>
            <a:ext cx="3098899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556200" y="3615928"/>
            <a:ext cx="0" cy="55245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52951" y="3692128"/>
            <a:ext cx="27595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검증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52951" y="3930253"/>
            <a:ext cx="27595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JSON 파티션 출력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380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분포 현황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33202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과목별 분포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30651" y="1333202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유형별 분포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7950" y="1698278"/>
          <a:ext cx="3810000" cy="319132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30651" y="1698278"/>
          <a:ext cx="3810000" cy="319132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 (POC)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71302"/>
            <a:ext cx="3873550" cy="704701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3951" y="1517303"/>
            <a:ext cx="36531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Qwen3-VL-Embedding-2B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951" y="1787128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 dim / 4.3GB GPU / Top-5 Recall 85.2%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177504"/>
            <a:ext cx="3873550" cy="66660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304455"/>
            <a:ext cx="3692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Qwen3-VL-Embedding-8B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SELECTED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01" y="2574280"/>
            <a:ext cx="3692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4,096 dim / 24GB GPU / Top-5 Recall 70.5%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945606"/>
            <a:ext cx="3873550" cy="66660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3072557"/>
            <a:ext cx="3692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KURE-v1 (Korean)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4901" y="3342382"/>
            <a:ext cx="3692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 dim / 2.1GB GPU / Top-5 Recall 33.4%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713708"/>
            <a:ext cx="3873550" cy="66660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840659"/>
            <a:ext cx="36920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 (Image)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901" y="4110484"/>
            <a:ext cx="3692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dim / 1.5GB GPU / Top-5 Recall 13.8%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62500" y="1371302"/>
            <a:ext cx="39510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Qwen3-VL-2B 평가 결과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2500" y="1920478"/>
            <a:ext cx="12695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지연시간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07150" y="1918841"/>
            <a:ext cx="1866900" cy="203150"/>
          </a:xfrm>
          <a:prstGeom prst="roundRect">
            <a:avLst>
              <a:gd name="adj" fmla="val 50012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07150" y="1918841"/>
            <a:ext cx="279946" cy="203150"/>
          </a:xfrm>
          <a:prstGeom prst="roundRect">
            <a:avLst>
              <a:gd name="adj" fmla="val 500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58810" y="1944291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2500" y="2475905"/>
            <a:ext cx="12695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메모리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07150" y="2474268"/>
            <a:ext cx="1866900" cy="203150"/>
          </a:xfrm>
          <a:prstGeom prst="roundRect">
            <a:avLst>
              <a:gd name="adj" fmla="val 50012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07150" y="2474268"/>
            <a:ext cx="1008013" cy="203150"/>
          </a:xfrm>
          <a:prstGeom prst="roundRect">
            <a:avLst>
              <a:gd name="adj" fmla="val 500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58810" y="2499717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62500" y="3031331"/>
            <a:ext cx="12695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07150" y="3005882"/>
            <a:ext cx="1866900" cy="203150"/>
          </a:xfrm>
          <a:prstGeom prst="roundRect">
            <a:avLst>
              <a:gd name="adj" fmla="val 50012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07150" y="3005882"/>
            <a:ext cx="1586805" cy="203150"/>
          </a:xfrm>
          <a:prstGeom prst="roundRect">
            <a:avLst>
              <a:gd name="adj" fmla="val 500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58810" y="3031331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2500" y="3539133"/>
            <a:ext cx="12695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07150" y="3513683"/>
            <a:ext cx="1866900" cy="203150"/>
          </a:xfrm>
          <a:prstGeom prst="roundRect">
            <a:avLst>
              <a:gd name="adj" fmla="val 50012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07150" y="3513683"/>
            <a:ext cx="1381423" cy="203150"/>
          </a:xfrm>
          <a:prstGeom prst="roundRect">
            <a:avLst>
              <a:gd name="adj" fmla="val 500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58810" y="3539133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333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서비스 (itembank-api)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62025"/>
            <a:ext cx="39833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7145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77901" y="1371451"/>
            <a:ext cx="2688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0.128.0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76822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77901" y="1768227"/>
            <a:ext cx="2688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0.40.0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165003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77901" y="2165003"/>
            <a:ext cx="2688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5617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7901" y="2561779"/>
            <a:ext cx="2688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+ OpenAI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9585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77901" y="2958554"/>
            <a:ext cx="2688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2.5.1 + Transformers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329880"/>
            <a:ext cx="39833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서비스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950" y="3612356"/>
            <a:ext cx="39052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4901" y="3688556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Qwen3VLService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4901" y="3856732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생성 (4.3GB GPU)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4101108"/>
            <a:ext cx="39052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01" y="4177308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901" y="4345484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검색 (HNSW)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950" y="4589859"/>
            <a:ext cx="39052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01" y="4666059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4834235"/>
            <a:ext cx="3724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생성 (GPT-4o)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0651" y="962025"/>
            <a:ext cx="3983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엔드포인트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30651" y="1244501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0651" y="1400026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/search/text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0651" y="1514326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/search/similar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0651" y="1628626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/search/items/{id}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0651" y="1793677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0651" y="194920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/rag/query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0651" y="206350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/rag/generate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0651" y="2228552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API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0651" y="2384078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/generate/item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30651" y="2498378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/generate/item/{id}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0651" y="2663428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0651" y="2818954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/health, /ready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(itembank-web)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07753"/>
            <a:ext cx="39833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590229"/>
            <a:ext cx="795933" cy="244376"/>
          </a:xfrm>
          <a:prstGeom prst="roundRect">
            <a:avLst>
              <a:gd name="adj" fmla="val 2078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451" y="1640979"/>
            <a:ext cx="604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4634" y="1590229"/>
            <a:ext cx="725388" cy="244376"/>
          </a:xfrm>
          <a:prstGeom prst="roundRect">
            <a:avLst>
              <a:gd name="adj" fmla="val 2078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56134" y="1640979"/>
            <a:ext cx="532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0772" y="1590229"/>
            <a:ext cx="1014561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32273" y="1640979"/>
            <a:ext cx="827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96084" y="1590229"/>
            <a:ext cx="1106239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97585" y="1640979"/>
            <a:ext cx="921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1885355"/>
            <a:ext cx="661839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1936105"/>
            <a:ext cx="4680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20539" y="1885355"/>
            <a:ext cx="951012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22040" y="1936105"/>
            <a:ext cx="762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22302" y="1885355"/>
            <a:ext cx="1028402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23802" y="1936105"/>
            <a:ext cx="841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1454" y="1885355"/>
            <a:ext cx="577155" cy="244376"/>
          </a:xfrm>
          <a:prstGeom prst="roundRect">
            <a:avLst>
              <a:gd name="adj" fmla="val 20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02955" y="1936105"/>
            <a:ext cx="3816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2332881"/>
            <a:ext cx="39833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950" y="2615357"/>
            <a:ext cx="3905250" cy="618827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27000" y="2615357"/>
            <a:ext cx="0" cy="61882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551" y="2716857"/>
            <a:ext cx="3737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551" y="2970758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 기반 시맨틱 검색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284934"/>
            <a:ext cx="3905250" cy="618827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27000" y="3284934"/>
            <a:ext cx="0" cy="61882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551" y="3386435"/>
            <a:ext cx="3737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문항 검색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551" y="3640336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문항 기반 유사도 검색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950" y="3954512"/>
            <a:ext cx="3905250" cy="618827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27000" y="3954512"/>
            <a:ext cx="0" cy="61882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551" y="4056013"/>
            <a:ext cx="3737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문항 생성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7551" y="430991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기반 유사 문항 생성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0651" y="1307753"/>
            <a:ext cx="3983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레이아웃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30651" y="1590229"/>
            <a:ext cx="3905399" cy="1168301"/>
          </a:xfrm>
          <a:prstGeom prst="roundRect">
            <a:avLst>
              <a:gd name="adj" fmla="val 434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6851" y="1666429"/>
            <a:ext cx="3752999" cy="253901"/>
          </a:xfrm>
          <a:prstGeom prst="roundRect">
            <a:avLst>
              <a:gd name="adj" fmla="val 100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6851" y="2021830"/>
            <a:ext cx="634901" cy="762000"/>
          </a:xfrm>
          <a:prstGeom prst="roundRect">
            <a:avLst>
              <a:gd name="adj" fmla="val 400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940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512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084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9656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228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880003" y="2072580"/>
            <a:ext cx="381000" cy="304800"/>
          </a:xfrm>
          <a:prstGeom prst="roundRect">
            <a:avLst>
              <a:gd name="adj" fmla="val 8333"/>
            </a:avLst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91597" y="2809280"/>
            <a:ext cx="3983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모드: 1/4 상세 + 3/4 유사 문항</a:t>
            </a:r>
            <a:endParaRPr lang="en-US" sz="1000" dirty="0"/>
          </a:p>
          <a:p>
            <a:pPr algn="ctr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그리드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808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지표 및 결과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07753"/>
            <a:ext cx="39510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성능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41128"/>
            <a:ext cx="3873550" cy="631627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856929"/>
            <a:ext cx="11014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지연시간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05908" y="1866454"/>
            <a:ext cx="9067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200ms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93589" y="1871216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3300" y="1880741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2323505"/>
            <a:ext cx="3873550" cy="631627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539305"/>
            <a:ext cx="11014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메모리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5908" y="2548830"/>
            <a:ext cx="9067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8GB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93589" y="2553593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4.3GB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3300" y="2563118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3005882"/>
            <a:ext cx="3873550" cy="631627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01" y="3221682"/>
            <a:ext cx="11014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5908" y="3250257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93589" y="3235970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43.2/s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3300" y="3245495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950" y="3688259"/>
            <a:ext cx="3873550" cy="631627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901" y="3904059"/>
            <a:ext cx="11014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05908" y="3913584"/>
            <a:ext cx="9067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100%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93589" y="3918347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3300" y="3927872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62500" y="1307753"/>
            <a:ext cx="39510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품질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2500" y="1641128"/>
            <a:ext cx="1873300" cy="663327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7298" y="1742629"/>
            <a:ext cx="1703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47298" y="2060079"/>
            <a:ext cx="1703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Recall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2750" y="1641128"/>
            <a:ext cx="1873300" cy="663327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47548" y="1742629"/>
            <a:ext cx="1703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47548" y="2060079"/>
            <a:ext cx="1703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62500" y="2431405"/>
            <a:ext cx="39510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품질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62500" y="2764780"/>
            <a:ext cx="1873300" cy="701427"/>
          </a:xfrm>
          <a:prstGeom prst="roundRect">
            <a:avLst>
              <a:gd name="adj" fmla="val 72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47298" y="2866281"/>
            <a:ext cx="1703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95.5%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47298" y="3183731"/>
            <a:ext cx="1703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 성공률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2750" y="2764780"/>
            <a:ext cx="1873300" cy="701427"/>
          </a:xfrm>
          <a:prstGeom prst="roundRect">
            <a:avLst>
              <a:gd name="adj" fmla="val 72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47548" y="2866281"/>
            <a:ext cx="1703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47548" y="3183731"/>
            <a:ext cx="1703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검증률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70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88752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638002"/>
            <a:ext cx="1816150" cy="231085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1661815"/>
            <a:ext cx="1816150" cy="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51" y="1888778"/>
            <a:ext cx="14380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8051" y="2142679"/>
            <a:ext cx="14380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인프라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8051" y="2482304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벡터화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8051" y="2714030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구축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8051" y="2945755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서비스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8051" y="3177480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프론트엔드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8051" y="3536156"/>
            <a:ext cx="838051" cy="209550"/>
          </a:xfrm>
          <a:prstGeom prst="roundRect">
            <a:avLst>
              <a:gd name="adj" fmla="val 1212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9552" y="3574256"/>
            <a:ext cx="6477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4201" y="1638002"/>
            <a:ext cx="1816298" cy="231085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654201" y="1661815"/>
            <a:ext cx="1816298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7351" y="1888778"/>
            <a:ext cx="14381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57351" y="2142679"/>
            <a:ext cx="14381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분류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57351" y="2482304"/>
            <a:ext cx="1438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교육과정 분류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57351" y="2714030"/>
            <a:ext cx="1438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성취기준 매핑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57351" y="2945755"/>
            <a:ext cx="1438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예측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57351" y="3304431"/>
            <a:ext cx="755600" cy="209550"/>
          </a:xfrm>
          <a:prstGeom prst="roundRect">
            <a:avLst>
              <a:gd name="adj" fmla="val 12121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58852" y="3342531"/>
            <a:ext cx="5636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3650" y="1638002"/>
            <a:ext cx="1816150" cy="231085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73650" y="1661815"/>
            <a:ext cx="1816150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6800" y="1888778"/>
            <a:ext cx="14380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6800" y="2142679"/>
            <a:ext cx="14380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생성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6800" y="2482304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Graph 추출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76800" y="2714030"/>
            <a:ext cx="14380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76800" y="2907655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방지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6800" y="3266331"/>
            <a:ext cx="755600" cy="209550"/>
          </a:xfrm>
          <a:prstGeom prst="roundRect">
            <a:avLst>
              <a:gd name="adj" fmla="val 12121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78301" y="3304431"/>
            <a:ext cx="5636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2950" y="1638002"/>
            <a:ext cx="1816150" cy="231085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692950" y="1661815"/>
            <a:ext cx="1816150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6100" y="1888778"/>
            <a:ext cx="14380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6100" y="2142679"/>
            <a:ext cx="14380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플랫폼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6100" y="2482304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96100" y="2714030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시스템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6100" y="2945755"/>
            <a:ext cx="14380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 통합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96100" y="3304431"/>
            <a:ext cx="755600" cy="209550"/>
          </a:xfrm>
          <a:prstGeom prst="roundRect">
            <a:avLst>
              <a:gd name="adj" fmla="val 12121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97601" y="3342531"/>
            <a:ext cx="5636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587" y="1295400"/>
            <a:ext cx="23406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2412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91822" y="2379464"/>
            <a:ext cx="41602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IOSYS ItemBank AI - Phase 1 Complete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49856" y="3382714"/>
            <a:ext cx="14981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176,443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49856" y="3925639"/>
            <a:ext cx="149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7497" y="3382714"/>
            <a:ext cx="140571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27497" y="3925639"/>
            <a:ext cx="1405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지연시간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15857" y="3382714"/>
            <a:ext cx="11751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15857" y="3925639"/>
            <a:ext cx="1175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IOSYS ItemBank AI 시스템 구축 보고서</dc:title>
  <dc:subject>AI 기반 차세대 문항은행 시스템</dc:subject>
  <dc:creator>IOSYS</dc:creator>
  <cp:lastModifiedBy>IOSYS</cp:lastModifiedBy>
  <cp:revision>1</cp:revision>
  <dcterms:created xsi:type="dcterms:W3CDTF">2026-01-30T01:17:25Z</dcterms:created>
  <dcterms:modified xsi:type="dcterms:W3CDTF">2026-01-30T01:17:25Z</dcterms:modified>
</cp:coreProperties>
</file>